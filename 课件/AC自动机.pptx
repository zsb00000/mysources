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6" r:id="rId3"/>
    <p:sldId id="347" r:id="rId4"/>
    <p:sldId id="348" r:id="rId5"/>
    <p:sldId id="349" r:id="rId6"/>
    <p:sldId id="351" r:id="rId7"/>
    <p:sldId id="352" r:id="rId8"/>
    <p:sldId id="383" r:id="rId9"/>
    <p:sldId id="384" r:id="rId10"/>
    <p:sldId id="354" r:id="rId11"/>
    <p:sldId id="370" r:id="rId12"/>
    <p:sldId id="355" r:id="rId13"/>
    <p:sldId id="371" r:id="rId14"/>
    <p:sldId id="357" r:id="rId15"/>
    <p:sldId id="373" r:id="rId16"/>
    <p:sldId id="356" r:id="rId17"/>
    <p:sldId id="372" r:id="rId18"/>
    <p:sldId id="374" r:id="rId19"/>
    <p:sldId id="375" r:id="rId20"/>
    <p:sldId id="369" r:id="rId21"/>
    <p:sldId id="376" r:id="rId22"/>
    <p:sldId id="377" r:id="rId23"/>
    <p:sldId id="378" r:id="rId24"/>
    <p:sldId id="379" r:id="rId25"/>
    <p:sldId id="380" r:id="rId26"/>
    <p:sldId id="3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6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88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89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5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20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1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25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10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9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2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4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3018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28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553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865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28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CFD53-AF4F-43D8-8932-1D4F96F39728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EC06BA3-20BB-4AC4-A9DF-412E5A394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2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62045-FAEA-84EA-185B-E4A7012EA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AC</a:t>
            </a:r>
            <a:r>
              <a:rPr lang="zh-CN" altLang="en-US" dirty="0"/>
              <a:t>自动机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EF09BC-2EE5-5372-1D13-459B799A8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张家浩</a:t>
            </a:r>
            <a:r>
              <a:rPr lang="en-US" altLang="zh-CN" dirty="0"/>
              <a:t>/</a:t>
            </a:r>
            <a:r>
              <a:rPr lang="en-US" altLang="zh-CN" dirty="0" err="1"/>
              <a:t>zjh</a:t>
            </a:r>
            <a:r>
              <a:rPr lang="en-US" altLang="zh-CN" dirty="0"/>
              <a:t>/</a:t>
            </a:r>
            <a:r>
              <a:rPr lang="zh-CN" altLang="en-US" dirty="0"/>
              <a:t>风又引理</a:t>
            </a:r>
            <a:r>
              <a:rPr lang="en-US" altLang="zh-CN" dirty="0"/>
              <a:t>/</a:t>
            </a:r>
            <a:r>
              <a:rPr lang="zh-CN" altLang="en-US" dirty="0"/>
              <a:t>就决定是你辣</a:t>
            </a:r>
          </a:p>
        </p:txBody>
      </p:sp>
    </p:spTree>
    <p:extLst>
      <p:ext uri="{BB962C8B-B14F-4D97-AF65-F5344CB8AC3E}">
        <p14:creationId xmlns:p14="http://schemas.microsoft.com/office/powerpoint/2010/main" val="197488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自动机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什么是自动机呢？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/>
            <a:r>
              <a:rPr lang="zh-CN" altLang="en-US" sz="2400" dirty="0">
                <a:latin typeface="Consolas" panose="020B0609020204030204" pitchFamily="49" charset="0"/>
              </a:rPr>
              <a:t>简单来说，就是一张有向图，每一个点有若干个出边，分别表示遇到每一个字符后你要走到哪里去。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/>
            <a:r>
              <a:rPr lang="zh-CN" altLang="en-US" sz="2400" dirty="0">
                <a:latin typeface="Consolas" panose="020B0609020204030204" pitchFamily="49" charset="0"/>
              </a:rPr>
              <a:t>一个自动机有一个起始点和若干个目标点，如果你走到最后发现自己成功走到了目标点上，那么说明你手里拿着的这个串识别成功了。</a:t>
            </a:r>
          </a:p>
          <a:p>
            <a:pPr lvl="0">
              <a:buClr>
                <a:srgbClr val="727CA3"/>
              </a:buClr>
            </a:pPr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其实</a:t>
            </a:r>
            <a:r>
              <a:rPr lang="en-US" altLang="zh-CN" sz="2400" dirty="0">
                <a:solidFill>
                  <a:prstClr val="black"/>
                </a:solidFill>
                <a:latin typeface="+mn-ea"/>
              </a:rPr>
              <a:t>KMP</a:t>
            </a:r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算法把所有的</a:t>
            </a:r>
            <a:r>
              <a:rPr lang="en-US" altLang="zh-CN" sz="2400" dirty="0" err="1">
                <a:solidFill>
                  <a:prstClr val="black"/>
                </a:solidFill>
                <a:latin typeface="+mn-ea"/>
              </a:rPr>
              <a:t>nxt</a:t>
            </a:r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拿出来也是一个自动机。</a:t>
            </a:r>
            <a:endParaRPr lang="en-US" altLang="zh-CN" sz="2400" dirty="0">
              <a:solidFill>
                <a:prstClr val="black"/>
              </a:solidFill>
              <a:latin typeface="+mn-ea"/>
            </a:endParaRP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855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AC</a:t>
            </a:r>
            <a:r>
              <a:rPr lang="zh-CN" altLang="en-US" sz="4800" dirty="0"/>
              <a:t>自动机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之前大家学过</a:t>
            </a:r>
            <a:r>
              <a:rPr lang="en-US" altLang="zh-CN" sz="2400" dirty="0">
                <a:latin typeface="Consolas" panose="020B0609020204030204" pitchFamily="49" charset="0"/>
              </a:rPr>
              <a:t>KMP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现在我们考虑这样一个问题：如果模板串不是一个，而是多个，应该怎么办呢？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我们可以把这些串拿出来一起跑</a:t>
            </a:r>
            <a:r>
              <a:rPr lang="en-US" altLang="zh-CN" sz="2400" dirty="0">
                <a:latin typeface="Consolas" panose="020B0609020204030204" pitchFamily="49" charset="0"/>
              </a:rPr>
              <a:t>KMP</a:t>
            </a:r>
            <a:r>
              <a:rPr lang="zh-CN" altLang="en-US" sz="2400" dirty="0">
                <a:latin typeface="Consolas" panose="020B0609020204030204" pitchFamily="49" charset="0"/>
              </a:rPr>
              <a:t>，问题就解决了。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所谓</a:t>
            </a:r>
            <a:r>
              <a:rPr lang="en-US" altLang="zh-CN" sz="2400" dirty="0">
                <a:latin typeface="Consolas" panose="020B0609020204030204" pitchFamily="49" charset="0"/>
              </a:rPr>
              <a:t>AC</a:t>
            </a:r>
            <a:r>
              <a:rPr lang="zh-CN" altLang="en-US" sz="2400" dirty="0">
                <a:latin typeface="Consolas" panose="020B0609020204030204" pitchFamily="49" charset="0"/>
              </a:rPr>
              <a:t>自动机，其实就是字典树</a:t>
            </a:r>
            <a:r>
              <a:rPr lang="en-US" altLang="zh-CN" sz="2400" dirty="0">
                <a:latin typeface="Consolas" panose="020B0609020204030204" pitchFamily="49" charset="0"/>
              </a:rPr>
              <a:t>+fail</a:t>
            </a:r>
            <a:r>
              <a:rPr lang="zh-CN" altLang="en-US" sz="2400" dirty="0">
                <a:latin typeface="Consolas" panose="020B0609020204030204" pitchFamily="49" charset="0"/>
              </a:rPr>
              <a:t>边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也即以 </a:t>
            </a:r>
            <a:r>
              <a:rPr lang="en-US" altLang="zh-CN" sz="2400" b="1" dirty="0">
                <a:latin typeface="Consolas" panose="020B0609020204030204" pitchFamily="49" charset="0"/>
              </a:rPr>
              <a:t>Trie </a:t>
            </a:r>
            <a:r>
              <a:rPr lang="zh-CN" altLang="en-US" sz="2400" b="1" dirty="0">
                <a:latin typeface="Consolas" panose="020B0609020204030204" pitchFamily="49" charset="0"/>
              </a:rPr>
              <a:t>的结构</a:t>
            </a:r>
            <a:r>
              <a:rPr lang="zh-CN" altLang="en-US" sz="2400" dirty="0">
                <a:latin typeface="Consolas" panose="020B0609020204030204" pitchFamily="49" charset="0"/>
              </a:rPr>
              <a:t>为基础，结合 </a:t>
            </a:r>
            <a:r>
              <a:rPr lang="en-US" altLang="zh-CN" sz="2400" b="1" dirty="0">
                <a:latin typeface="Consolas" panose="020B0609020204030204" pitchFamily="49" charset="0"/>
              </a:rPr>
              <a:t>KMP </a:t>
            </a:r>
            <a:r>
              <a:rPr lang="zh-CN" altLang="en-US" sz="2400" b="1" dirty="0">
                <a:latin typeface="Consolas" panose="020B0609020204030204" pitchFamily="49" charset="0"/>
              </a:rPr>
              <a:t>的思想 </a:t>
            </a:r>
            <a:r>
              <a:rPr lang="zh-CN" altLang="en-US" sz="2400" dirty="0">
                <a:latin typeface="Consolas" panose="020B0609020204030204" pitchFamily="49" charset="0"/>
              </a:rPr>
              <a:t>建立的自动机。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所以建立</a:t>
            </a:r>
            <a:r>
              <a:rPr lang="en-US" altLang="zh-CN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自动机分两步：</a:t>
            </a:r>
            <a:endParaRPr lang="en-US" altLang="zh-CN" sz="2400" dirty="0">
              <a:latin typeface="Consolas" panose="020B0609020204030204" pitchFamily="49" charset="0"/>
              <a:ea typeface="微软雅黑 Light" panose="020B0502040204020203" pitchFamily="34" charset="-122"/>
            </a:endParaRPr>
          </a:p>
          <a:p>
            <a:r>
              <a:rPr lang="en-US" altLang="zh-CN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1.</a:t>
            </a:r>
            <a:r>
              <a:rPr lang="zh-CN" altLang="en-US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建立字典树</a:t>
            </a:r>
            <a:endParaRPr lang="en-US" altLang="zh-CN" sz="2400" dirty="0">
              <a:latin typeface="Consolas" panose="020B0609020204030204" pitchFamily="49" charset="0"/>
              <a:ea typeface="微软雅黑 Light" panose="020B0502040204020203" pitchFamily="34" charset="-122"/>
            </a:endParaRPr>
          </a:p>
          <a:p>
            <a:r>
              <a:rPr lang="en-US" altLang="zh-CN" sz="2400" dirty="0">
                <a:latin typeface="Consolas" panose="020B0609020204030204" pitchFamily="49" charset="0"/>
                <a:ea typeface="微软雅黑 Light" panose="020B0502040204020203" pitchFamily="34" charset="-122"/>
              </a:rPr>
              <a:t>2.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在字典树的基础上加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指针</a:t>
            </a:r>
          </a:p>
        </p:txBody>
      </p:sp>
    </p:spTree>
    <p:extLst>
      <p:ext uri="{BB962C8B-B14F-4D97-AF65-F5344CB8AC3E}">
        <p14:creationId xmlns:p14="http://schemas.microsoft.com/office/powerpoint/2010/main" val="62535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AC</a:t>
            </a:r>
            <a:r>
              <a:rPr lang="zh-CN" altLang="en-US" sz="4800" dirty="0"/>
              <a:t>自动机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10383601" cy="3880773"/>
          </a:xfrm>
        </p:spPr>
        <p:txBody>
          <a:bodyPr>
            <a:normAutofit/>
          </a:bodyPr>
          <a:lstStyle/>
          <a:p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9FD0AB-A21F-C1FF-CBE0-10C745221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07" y="1488613"/>
            <a:ext cx="8057674" cy="519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6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AC</a:t>
            </a:r>
            <a:r>
              <a:rPr lang="zh-CN" altLang="en-US" sz="4800" dirty="0"/>
              <a:t>自动机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40665"/>
            <a:ext cx="9193779" cy="43006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自动机的构建算法是离线的，我们需要先把所有的字符串插入到字典树中，然后跑出来所有的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边。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需要注意的是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KMP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nxt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数组表示的是这个串的前缀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后缀，而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自动机的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数组表示的是这个串的后缀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另一个串的前缀（当然两个串可能是同一个串）。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回想一下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KMP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nxt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数组的构建方法，我们是由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nxt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[i-1]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来推出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nxt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同理，在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自动机上，我们就是由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fail[fa[x]]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来推出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fail[x]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KMP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里面我们直接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for(1...n)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就可以求出来所有的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nxt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自动机里面，我们需要用一个队列来存储当前已经知道的所有点，每次拿出来一个点进行扩展。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只要这个点没有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child[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就不断跳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，直到跳到了根或者存在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child[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757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AC</a:t>
            </a:r>
            <a:r>
              <a:rPr lang="zh-CN" altLang="en-US" sz="4800" dirty="0"/>
              <a:t>自动机（</a:t>
            </a:r>
            <a:r>
              <a:rPr lang="en-US" altLang="zh-CN" sz="4800" dirty="0"/>
              <a:t>P5357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具体实现：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每当我们从队列里面弹出一个点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node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，我们就依次遍历所有的出边，如果没有出边就由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tree[node].fail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child[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，否则就求出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tree[child[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]].fail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队列里面的所有点都已经求出来了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数组，而还没有处理完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child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数组。</a:t>
            </a: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506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AC</a:t>
            </a:r>
            <a:r>
              <a:rPr lang="zh-CN" altLang="en-US" sz="4800" dirty="0"/>
              <a:t>自动机（</a:t>
            </a:r>
            <a:r>
              <a:rPr lang="en-US" altLang="zh-CN" sz="4800" dirty="0"/>
              <a:t>P5357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求一个文本串中每一个模式串的出现次数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模板题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把所有模式串拿出来建一个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自动机，然后直接把文本串放上去跑。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到达一个串末尾之后让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cnt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]++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76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3D2F-852C-1625-9113-C8BE538F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90479-4712-FEFC-8B18-4579378B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P14363 [CSP-S 2025] </a:t>
            </a:r>
            <a:r>
              <a:rPr lang="zh-CN" altLang="en-US" b="1" dirty="0"/>
              <a:t>谐音替换 </a:t>
            </a:r>
            <a:r>
              <a:rPr lang="en-US" altLang="zh-CN" b="1" dirty="0"/>
              <a:t>/ replace</a:t>
            </a:r>
            <a:br>
              <a:rPr lang="en-US" altLang="zh-CN" b="1" dirty="0"/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99DC47-B229-81E5-3F82-382C5939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今天来点大家想看的东西</a:t>
            </a:r>
          </a:p>
        </p:txBody>
      </p:sp>
    </p:spTree>
    <p:extLst>
      <p:ext uri="{BB962C8B-B14F-4D97-AF65-F5344CB8AC3E}">
        <p14:creationId xmlns:p14="http://schemas.microsoft.com/office/powerpoint/2010/main" val="9392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5878-6383-BBAD-AE28-932A89A2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CAF54-4FE1-B1E4-8454-BAA5EAA5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P14363 [CSP-S 2025] </a:t>
            </a:r>
            <a:r>
              <a:rPr lang="zh-CN" altLang="en-US" b="1" dirty="0"/>
              <a:t>谐音替换 </a:t>
            </a:r>
            <a:r>
              <a:rPr lang="en-US" altLang="zh-CN" b="1" dirty="0"/>
              <a:t>/ replace</a:t>
            </a:r>
            <a:br>
              <a:rPr lang="en-US" altLang="zh-CN" b="1" dirty="0"/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2A0D1-369A-586C-8D4D-95BB9DC03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猎奇串串题 有很多做法 这里时间关系只讲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自动机解法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考虑变换的实质是将串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XYZ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替换为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XY’Z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我们希望将原问题转换为多模匹配的形式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于是想到对于前后缀相同的一次变换 可以用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X?YY’?Z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来表示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其中？是特殊字符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我们对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做类似的处理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跑多模匹配即可</a:t>
            </a:r>
          </a:p>
        </p:txBody>
      </p:sp>
    </p:spTree>
    <p:extLst>
      <p:ext uri="{BB962C8B-B14F-4D97-AF65-F5344CB8AC3E}">
        <p14:creationId xmlns:p14="http://schemas.microsoft.com/office/powerpoint/2010/main" val="66824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Censoring G(P3121)</a:t>
            </a:r>
            <a:endParaRPr lang="zh-CN" altLang="en-US" sz="48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00DDFD3-833E-FBF9-D11F-DAFCD0E93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10014772" cy="387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Censoring G(P3121)</a:t>
            </a: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把弱化版的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kmp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换成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</a:t>
            </a:r>
            <a:endParaRPr lang="en-US" altLang="zh-CN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简简单单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记录一下在某个点的时候在 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Trie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 上匹配的位置就可以了</a:t>
            </a:r>
          </a:p>
        </p:txBody>
      </p:sp>
    </p:spTree>
    <p:extLst>
      <p:ext uri="{BB962C8B-B14F-4D97-AF65-F5344CB8AC3E}">
        <p14:creationId xmlns:p14="http://schemas.microsoft.com/office/powerpoint/2010/main" val="248133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单词（</a:t>
            </a:r>
            <a:r>
              <a:rPr lang="en-US" altLang="zh-CN" sz="4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P3966 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https://www.luogu.com.cn/problem/P3966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9344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单词（</a:t>
            </a:r>
            <a:r>
              <a:rPr lang="en-US" altLang="zh-CN" sz="4800" dirty="0"/>
              <a:t>P3699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首先不是简单的多模式串匹配，我们发现会有重复的串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因此在字典树上用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vector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存一下编号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跑一遍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自动机，每一个节点保存一下属于多少字符串，为它的权值。然后一个节点表示的字符串在整个字典中出现的次数相当于其在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树中的子树的权值的和。</a:t>
            </a:r>
          </a:p>
        </p:txBody>
      </p:sp>
    </p:spTree>
    <p:extLst>
      <p:ext uri="{BB962C8B-B14F-4D97-AF65-F5344CB8AC3E}">
        <p14:creationId xmlns:p14="http://schemas.microsoft.com/office/powerpoint/2010/main" val="263207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 err="1"/>
              <a:t>Divljak</a:t>
            </a:r>
            <a:r>
              <a:rPr lang="en-US" altLang="zh-CN" sz="4800" dirty="0"/>
              <a:t>(P5840)</a:t>
            </a: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https://www.luogu.com.cn/problem/P5840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37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 err="1"/>
              <a:t>Divljak</a:t>
            </a:r>
            <a:r>
              <a:rPr lang="en-US" altLang="zh-CN" sz="4800" dirty="0"/>
              <a:t>(P5840)</a:t>
            </a: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首先很容易想到用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自动机来做多模式串匹配</a:t>
            </a: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但这是一道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+LCA+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树链剖分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树上差分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树状数组维护的恶心题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4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trie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和类似数据结构依赖于根节点为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，数列剖分则依赖于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76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Video </a:t>
            </a:r>
            <a:r>
              <a:rPr lang="en-US" altLang="zh-CN" sz="4800" dirty="0" err="1"/>
              <a:t>gameG</a:t>
            </a:r>
            <a:r>
              <a:rPr lang="zh-CN" altLang="en-US" sz="4800" dirty="0"/>
              <a:t>（</a:t>
            </a:r>
            <a:r>
              <a:rPr lang="en-US" altLang="zh-CN" sz="4800" dirty="0"/>
              <a:t>P3041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https://www.luogu.com.cn/problem/P3041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24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Video </a:t>
            </a:r>
            <a:r>
              <a:rPr lang="en-US" altLang="zh-CN" sz="4800" dirty="0" err="1"/>
              <a:t>gameG</a:t>
            </a:r>
            <a:r>
              <a:rPr lang="zh-CN" altLang="en-US" sz="4800" dirty="0"/>
              <a:t>（</a:t>
            </a:r>
            <a:r>
              <a:rPr lang="en-US" altLang="zh-CN" sz="4800" dirty="0"/>
              <a:t>P3041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ac</a:t>
            </a:r>
            <a:r>
              <a:rPr lang="zh-CN" altLang="en-US" sz="2400" dirty="0"/>
              <a:t>自动机上跑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的题</a:t>
            </a:r>
            <a:endParaRPr lang="en-US" altLang="zh-CN" sz="2400" dirty="0"/>
          </a:p>
          <a:p>
            <a:r>
              <a:rPr lang="en-US" altLang="zh-CN" sz="2400" dirty="0" err="1"/>
              <a:t>dp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en-US" altLang="zh-CN" sz="2400" i="1" dirty="0"/>
              <a:t> </a:t>
            </a:r>
            <a:r>
              <a:rPr lang="zh-CN" altLang="en-US" sz="2400" dirty="0"/>
              <a:t>表示长度为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，当前在</a:t>
            </a:r>
            <a:r>
              <a:rPr lang="en-US" altLang="zh-CN" sz="2400" dirty="0" err="1"/>
              <a:t>trie</a:t>
            </a:r>
            <a:r>
              <a:rPr lang="zh-CN" altLang="en-US" sz="2400" dirty="0"/>
              <a:t>上的</a:t>
            </a:r>
            <a:r>
              <a:rPr lang="en-US" altLang="zh-CN" sz="2400" dirty="0"/>
              <a:t>j</a:t>
            </a:r>
            <a:r>
              <a:rPr lang="zh-CN" altLang="en-US" sz="2400" dirty="0"/>
              <a:t>位置时的最大得分</a:t>
            </a:r>
            <a:endParaRPr lang="en-US" altLang="zh-CN" sz="2400" dirty="0"/>
          </a:p>
          <a:p>
            <a:r>
              <a:rPr lang="en-US" altLang="zh-CN" sz="2400" dirty="0" err="1"/>
              <a:t>dp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][tr[j][k]]=max(</a:t>
            </a:r>
            <a:r>
              <a:rPr lang="en-US" altLang="zh-CN" sz="2400" dirty="0" err="1"/>
              <a:t>dp</a:t>
            </a:r>
            <a:r>
              <a:rPr lang="en-US" altLang="zh-CN" sz="2400" dirty="0"/>
              <a:t>[i−1][j]+is[tr[j][k])</a:t>
            </a:r>
            <a:r>
              <a:rPr lang="en-US" altLang="zh-CN" sz="2400" i="1" dirty="0"/>
              <a:t> </a:t>
            </a:r>
            <a:r>
              <a:rPr lang="zh-CN" altLang="en-US" sz="2400" dirty="0"/>
              <a:t>即用父亲更新儿子，因为本题要求求最大值，所以取</a:t>
            </a:r>
            <a:r>
              <a:rPr lang="en-US" altLang="zh-CN" sz="2400" dirty="0"/>
              <a:t>max</a:t>
            </a:r>
            <a:r>
              <a:rPr lang="zh-CN" altLang="en-US" sz="2400" dirty="0"/>
              <a:t>。</a:t>
            </a: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819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文本生成器（</a:t>
            </a:r>
            <a:r>
              <a:rPr lang="en-US" altLang="zh-CN" sz="4800" dirty="0"/>
              <a:t>P4052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https://www.luogu.com.cn/problem/P4052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093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文本生成器（</a:t>
            </a:r>
            <a:r>
              <a:rPr lang="en-US" altLang="zh-CN" sz="4800" dirty="0"/>
              <a:t>P4052</a:t>
            </a:r>
            <a:r>
              <a:rPr lang="zh-CN" altLang="en-US" sz="48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一样的，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自动机上的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dp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题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这种题大多数情况都是比较套路的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首先把自动机建出来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然后设 </a:t>
            </a:r>
            <a:r>
              <a:rPr lang="en-US" altLang="zh-CN" sz="24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dp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4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][j]</a:t>
            </a:r>
            <a:r>
              <a:rPr lang="en-US" altLang="zh-CN" sz="2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表示长度为 </a:t>
            </a:r>
            <a:r>
              <a:rPr lang="en-US" altLang="zh-CN" sz="24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且后缀字符为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自动机上节点 </a:t>
            </a:r>
            <a:r>
              <a:rPr lang="en-US" altLang="zh-CN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的文本串数量</a:t>
            </a:r>
            <a:endParaRPr lang="en-US" altLang="zh-CN" sz="2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父亲向儿子转移就完了</a:t>
            </a:r>
          </a:p>
        </p:txBody>
      </p:sp>
    </p:spTree>
    <p:extLst>
      <p:ext uri="{BB962C8B-B14F-4D97-AF65-F5344CB8AC3E}">
        <p14:creationId xmlns:p14="http://schemas.microsoft.com/office/powerpoint/2010/main" val="47831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【NOI2011】</a:t>
            </a:r>
            <a:r>
              <a:rPr lang="zh-CN" altLang="en-US" sz="4000" dirty="0">
                <a:latin typeface="Consolas" panose="020B0609020204030204" pitchFamily="49" charset="0"/>
              </a:rPr>
              <a:t>阿狸的打字机</a:t>
            </a: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https://www.luogu.com.cn/problem/P2414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967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【NOI2011】</a:t>
            </a:r>
            <a:r>
              <a:rPr lang="zh-CN" altLang="en-US" sz="4000" dirty="0">
                <a:latin typeface="Consolas" panose="020B0609020204030204" pitchFamily="49" charset="0"/>
              </a:rPr>
              <a:t>阿狸的打字机</a:t>
            </a: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首先我们先把所有的插入删除拿出来，建一个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Trie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树，跑出来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观察发现，对于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自动机中的每一个节点，如果节点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指向节点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对应的字符串一定在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对应的字符串中出现。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那么我们看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中出现了多少次，其实就是把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的每一个前缀都拿出来，不断跳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，看有多少个前缀可以跳到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上。</a:t>
            </a:r>
          </a:p>
        </p:txBody>
      </p:sp>
    </p:spTree>
    <p:extLst>
      <p:ext uri="{BB962C8B-B14F-4D97-AF65-F5344CB8AC3E}">
        <p14:creationId xmlns:p14="http://schemas.microsoft.com/office/powerpoint/2010/main" val="206877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【NOI2011】</a:t>
            </a:r>
            <a:r>
              <a:rPr lang="zh-CN" altLang="en-US" sz="4000" dirty="0">
                <a:latin typeface="Consolas" panose="020B0609020204030204" pitchFamily="49" charset="0"/>
              </a:rPr>
              <a:t>阿狸的打字机</a:t>
            </a: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首先我们先把所有的插入删除拿出来，建一个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Trie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树，跑出来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观察发现，对于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自动机中的每一个节点，如果节点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指向节点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对应的字符串一定在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对应的字符串中出现。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那么我们看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中出现了多少次，其实就是把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的每一个前缀都拿出来，不断跳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fail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，看有多少个前缀可以跳到</a:t>
            </a:r>
            <a:r>
              <a:rPr lang="en-US" altLang="zh-CN" sz="24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上。</a:t>
            </a:r>
          </a:p>
        </p:txBody>
      </p:sp>
    </p:spTree>
    <p:extLst>
      <p:ext uri="{BB962C8B-B14F-4D97-AF65-F5344CB8AC3E}">
        <p14:creationId xmlns:p14="http://schemas.microsoft.com/office/powerpoint/2010/main" val="269933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【NOI2011】</a:t>
            </a:r>
            <a:r>
              <a:rPr lang="zh-CN" altLang="en-US" sz="4000" dirty="0">
                <a:latin typeface="Consolas" panose="020B0609020204030204" pitchFamily="49" charset="0"/>
              </a:rPr>
              <a:t>阿狸的打字机</a:t>
            </a: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进一步我们发现，可以直接把</a:t>
            </a:r>
            <a:r>
              <a:rPr lang="en-US" altLang="zh-CN" sz="2400" dirty="0">
                <a:latin typeface="Consolas" panose="020B0609020204030204" pitchFamily="49" charset="0"/>
              </a:rPr>
              <a:t>fail</a:t>
            </a:r>
            <a:r>
              <a:rPr lang="zh-CN" altLang="en-US" sz="2400" dirty="0">
                <a:latin typeface="Consolas" panose="020B0609020204030204" pitchFamily="49" charset="0"/>
              </a:rPr>
              <a:t>树拎出来。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这样问题就变成了</a:t>
            </a:r>
            <a:r>
              <a:rPr lang="en-US" altLang="zh-CN" sz="2400" dirty="0">
                <a:latin typeface="Consolas" panose="020B0609020204030204" pitchFamily="49" charset="0"/>
              </a:rPr>
              <a:t>j</a:t>
            </a:r>
            <a:r>
              <a:rPr lang="zh-CN" altLang="en-US" sz="2400" dirty="0">
                <a:latin typeface="Consolas" panose="020B0609020204030204" pitchFamily="49" charset="0"/>
              </a:rPr>
              <a:t>的前缀有多少个在</a:t>
            </a:r>
            <a:r>
              <a:rPr lang="en-US" altLang="zh-CN" sz="2400" dirty="0">
                <a:latin typeface="Consolas" panose="020B0609020204030204" pitchFamily="49" charset="0"/>
              </a:rPr>
              <a:t>fail</a:t>
            </a:r>
            <a:r>
              <a:rPr lang="zh-CN" altLang="en-US" sz="2400" dirty="0">
                <a:latin typeface="Consolas" panose="020B0609020204030204" pitchFamily="49" charset="0"/>
              </a:rPr>
              <a:t>树上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zh-CN" altLang="en-US" sz="2400" dirty="0">
                <a:latin typeface="Consolas" panose="020B0609020204030204" pitchFamily="49" charset="0"/>
              </a:rPr>
              <a:t>的子树中。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离线一下，写一个树状数组，按照</a:t>
            </a:r>
            <a:r>
              <a:rPr lang="en-US" altLang="zh-CN" sz="2400" dirty="0">
                <a:latin typeface="Consolas" panose="020B0609020204030204" pitchFamily="49" charset="0"/>
              </a:rPr>
              <a:t>j</a:t>
            </a:r>
            <a:r>
              <a:rPr lang="zh-CN" altLang="en-US" sz="2400" dirty="0">
                <a:latin typeface="Consolas" panose="020B0609020204030204" pitchFamily="49" charset="0"/>
              </a:rPr>
              <a:t>的</a:t>
            </a:r>
            <a:r>
              <a:rPr lang="en-US" altLang="zh-CN" sz="2400" dirty="0" err="1">
                <a:latin typeface="Consolas" panose="020B0609020204030204" pitchFamily="49" charset="0"/>
              </a:rPr>
              <a:t>dfs</a:t>
            </a:r>
            <a:r>
              <a:rPr lang="zh-CN" altLang="en-US" sz="2400" dirty="0">
                <a:latin typeface="Consolas" panose="020B0609020204030204" pitchFamily="49" charset="0"/>
              </a:rPr>
              <a:t>序求出来所有的答案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602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5300" dirty="0">
                <a:latin typeface="Consolas" panose="020B0609020204030204" pitchFamily="49" charset="0"/>
              </a:rPr>
              <a:t>【POI2000】</a:t>
            </a:r>
            <a:r>
              <a:rPr lang="zh-CN" altLang="en-US" sz="5300" dirty="0">
                <a:latin typeface="Consolas" panose="020B0609020204030204" pitchFamily="49" charset="0"/>
              </a:rPr>
              <a:t>病毒</a:t>
            </a:r>
            <a:br>
              <a:rPr lang="en-US" altLang="zh-CN" sz="3200" dirty="0">
                <a:latin typeface="Consolas" panose="020B0609020204030204" pitchFamily="49" charset="0"/>
              </a:rPr>
            </a:b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https://www.luogu.com.cn/problem/P2444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50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4B4B-58EF-6783-CCDA-DA896F31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5300" dirty="0">
                <a:latin typeface="Consolas" panose="020B0609020204030204" pitchFamily="49" charset="0"/>
              </a:rPr>
              <a:t>【POI2000】</a:t>
            </a:r>
            <a:r>
              <a:rPr lang="zh-CN" altLang="en-US" sz="5300" dirty="0">
                <a:latin typeface="Consolas" panose="020B0609020204030204" pitchFamily="49" charset="0"/>
              </a:rPr>
              <a:t>病毒</a:t>
            </a:r>
            <a:br>
              <a:rPr lang="en-US" altLang="zh-CN" sz="3200" dirty="0">
                <a:latin typeface="Consolas" panose="020B0609020204030204" pitchFamily="49" charset="0"/>
              </a:rPr>
            </a:br>
            <a:br>
              <a:rPr lang="en-US" altLang="zh-CN" sz="4000" dirty="0">
                <a:latin typeface="Consolas" panose="020B0609020204030204" pitchFamily="49" charset="0"/>
              </a:rPr>
            </a:b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7B137-D716-290C-B799-BE3C6460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把所有病毒拿出来建一个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自动机。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然后要想不存在病毒，我们就不能走到某些点。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所以直接把有病毒的点标记为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，然后看未被标记的点能否无限走下去。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其实就是看未被标记的部分是否存在环</a:t>
            </a:r>
            <a:r>
              <a:rPr lang="en-US" altLang="zh-CN" sz="2400" dirty="0">
                <a:latin typeface="Consolas" panose="020B0609020204030204" pitchFamily="49" charset="0"/>
              </a:rPr>
              <a:t>.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430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D1CB1-2D53-46C8-BB33-E8FF76F98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880" y="1523482"/>
            <a:ext cx="8606520" cy="2125273"/>
          </a:xfrm>
        </p:spPr>
        <p:txBody>
          <a:bodyPr/>
          <a:lstStyle/>
          <a:p>
            <a:r>
              <a:rPr lang="en-US" altLang="zh-CN" b="1" dirty="0"/>
              <a:t>Thank you for listening!</a:t>
            </a:r>
            <a:endParaRPr lang="zh-CN" altLang="en-US" b="1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027D454-A738-82AF-B539-059CC918D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8755"/>
            <a:ext cx="3239862" cy="32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67669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自定义 1">
      <a:majorFont>
        <a:latin typeface="Microsoft YaHei Light"/>
        <a:ea typeface="方正姚体"/>
        <a:cs typeface=""/>
      </a:majorFont>
      <a:minorFont>
        <a:latin typeface="Microsoft YaHei Light"/>
        <a:ea typeface="微软雅黑"/>
        <a:cs typeface="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1446</TotalTime>
  <Words>1405</Words>
  <Application>Microsoft Office PowerPoint</Application>
  <PresentationFormat>宽屏</PresentationFormat>
  <Paragraphs>95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微软雅黑 Light</vt:lpstr>
      <vt:lpstr>微软雅黑 Light</vt:lpstr>
      <vt:lpstr>Arial</vt:lpstr>
      <vt:lpstr>Consolas</vt:lpstr>
      <vt:lpstr>Wingdings 3</vt:lpstr>
      <vt:lpstr>平面</vt:lpstr>
      <vt:lpstr>AC自动机</vt:lpstr>
      <vt:lpstr>自动机</vt:lpstr>
      <vt:lpstr>AC自动机</vt:lpstr>
      <vt:lpstr>AC自动机</vt:lpstr>
      <vt:lpstr>AC自动机</vt:lpstr>
      <vt:lpstr>AC自动机（P5357）</vt:lpstr>
      <vt:lpstr>AC自动机（P5357）</vt:lpstr>
      <vt:lpstr>P14363 [CSP-S 2025] 谐音替换 / replace </vt:lpstr>
      <vt:lpstr>P14363 [CSP-S 2025] 谐音替换 / replace </vt:lpstr>
      <vt:lpstr>Censoring G(P3121)</vt:lpstr>
      <vt:lpstr>Censoring G(P3121)</vt:lpstr>
      <vt:lpstr>单词（P3966 ）</vt:lpstr>
      <vt:lpstr>单词（P3699）</vt:lpstr>
      <vt:lpstr>Divljak(P5840)</vt:lpstr>
      <vt:lpstr>Divljak(P5840)</vt:lpstr>
      <vt:lpstr>Video gameG（P3041）</vt:lpstr>
      <vt:lpstr>Video gameG（P3041）</vt:lpstr>
      <vt:lpstr>文本生成器（P4052）</vt:lpstr>
      <vt:lpstr>文本生成器（P4052）</vt:lpstr>
      <vt:lpstr>【NOI2011】阿狸的打字机 </vt:lpstr>
      <vt:lpstr>【NOI2011】阿狸的打字机 </vt:lpstr>
      <vt:lpstr>【NOI2011】阿狸的打字机 </vt:lpstr>
      <vt:lpstr>【NOI2011】阿狸的打字机 </vt:lpstr>
      <vt:lpstr>【POI2000】病毒  </vt:lpstr>
      <vt:lpstr>【POI2000】病毒  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dayong zhang</dc:creator>
  <cp:lastModifiedBy>张家浩</cp:lastModifiedBy>
  <cp:revision>108</cp:revision>
  <dcterms:created xsi:type="dcterms:W3CDTF">2024-08-10T13:39:52Z</dcterms:created>
  <dcterms:modified xsi:type="dcterms:W3CDTF">2025-11-13T08:15:49Z</dcterms:modified>
</cp:coreProperties>
</file>